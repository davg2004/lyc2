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embeddedFontLst>
    <p:embeddedFont>
      <p:font typeface="Unbounded"/>
      <p:regular r:id="rId10"/>
    </p:embeddedFont>
    <p:embeddedFont>
      <p:font typeface="Unbounded Bold"/>
      <p:regular r:id="rId11"/>
    </p:embeddedFont>
    <p:embeddedFont>
      <p:font typeface="Cabin"/>
      <p:regular r:id="rId12"/>
    </p:embeddedFont>
    <p:embeddedFont>
      <p:font typeface="Cabin Bold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281" y="371996"/>
            <a:ext cx="8129439" cy="74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Comparación de Paradigmas de Programación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7281" y="1363563"/>
            <a:ext cx="8129439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matriz compara cinco paradigmas clave y cómo influyen en la traducción del código por compiladores o intérpretes. Entender estas diferencias ayuda a elegir el enfoque correcto según rendimiento, claridad y tolerancia a fallos.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7281" y="1901056"/>
            <a:ext cx="2607469" cy="1512019"/>
          </a:xfrm>
          <a:prstGeom prst="roundRect">
            <a:avLst>
              <a:gd name="adj" fmla="val 1258"/>
            </a:avLst>
          </a:prstGeom>
          <a:solidFill>
            <a:srgbClr val="304755"/>
          </a:solidFill>
          <a:ln/>
        </p:spPr>
      </p:sp>
      <p:sp>
        <p:nvSpPr>
          <p:cNvPr id="5" name="Shape 3"/>
          <p:cNvSpPr/>
          <p:nvPr/>
        </p:nvSpPr>
        <p:spPr>
          <a:xfrm>
            <a:off x="634082" y="2095202"/>
            <a:ext cx="63401" cy="63401"/>
          </a:xfrm>
          <a:prstGeom prst="roundRect">
            <a:avLst>
              <a:gd name="adj" fmla="val 450703"/>
            </a:avLst>
          </a:prstGeom>
          <a:solidFill>
            <a:srgbClr val="0A988B"/>
          </a:solidFill>
          <a:ln/>
        </p:spPr>
      </p:sp>
      <p:sp>
        <p:nvSpPr>
          <p:cNvPr id="6" name="Text 4"/>
          <p:cNvSpPr/>
          <p:nvPr/>
        </p:nvSpPr>
        <p:spPr>
          <a:xfrm>
            <a:off x="820266" y="2027858"/>
            <a:ext cx="1492002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Imperativo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0266" y="2288009"/>
            <a:ext cx="2167682" cy="998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Instrucciones secuenciales que modifican variables. Ejemplo: C. Simple pero puede volverse caótico en proyectos grandes por cambios de estado inesperados.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8266" y="1901056"/>
            <a:ext cx="2607469" cy="1512019"/>
          </a:xfrm>
          <a:prstGeom prst="roundRect">
            <a:avLst>
              <a:gd name="adj" fmla="val 1258"/>
            </a:avLst>
          </a:prstGeom>
          <a:solidFill>
            <a:srgbClr val="304755"/>
          </a:solidFill>
          <a:ln/>
        </p:spPr>
      </p:sp>
      <p:sp>
        <p:nvSpPr>
          <p:cNvPr id="9" name="Shape 7"/>
          <p:cNvSpPr/>
          <p:nvPr/>
        </p:nvSpPr>
        <p:spPr>
          <a:xfrm>
            <a:off x="3395067" y="2095202"/>
            <a:ext cx="63401" cy="63401"/>
          </a:xfrm>
          <a:prstGeom prst="roundRect">
            <a:avLst>
              <a:gd name="adj" fmla="val 450703"/>
            </a:avLst>
          </a:prstGeom>
          <a:solidFill>
            <a:srgbClr val="0A988B"/>
          </a:solidFill>
          <a:ln/>
        </p:spPr>
      </p:sp>
      <p:sp>
        <p:nvSpPr>
          <p:cNvPr id="10" name="Text 8"/>
          <p:cNvSpPr/>
          <p:nvPr/>
        </p:nvSpPr>
        <p:spPr>
          <a:xfrm>
            <a:off x="3581251" y="2027858"/>
            <a:ext cx="1769269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Orientado a objetos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81251" y="2288009"/>
            <a:ext cx="2167682" cy="998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Organiza datos y comportamientos en objetos (Java, Python, C#). Facilita la reutilización, pero requiere estructuras (vtables) en tiempo de ejecución que consumen memoria.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9251" y="1901056"/>
            <a:ext cx="2607469" cy="1512019"/>
          </a:xfrm>
          <a:prstGeom prst="roundRect">
            <a:avLst>
              <a:gd name="adj" fmla="val 1258"/>
            </a:avLst>
          </a:prstGeom>
          <a:solidFill>
            <a:srgbClr val="3047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156052" y="2095202"/>
            <a:ext cx="63401" cy="63401"/>
          </a:xfrm>
          <a:prstGeom prst="roundRect">
            <a:avLst>
              <a:gd name="adj" fmla="val 450703"/>
            </a:avLst>
          </a:prstGeom>
          <a:solidFill>
            <a:srgbClr val="0A988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2236" y="2027858"/>
            <a:ext cx="1492002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Funcional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42236" y="2288009"/>
            <a:ext cx="2167682" cy="998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Énfasis en inmutabilidad y funciones puras. Facilita paralelismo y razonamiento formal, aunque su estilo mental puede ser menos intuitivo para quienes vienen del imperativo.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281" y="3658716"/>
            <a:ext cx="3987924" cy="1112713"/>
          </a:xfrm>
          <a:prstGeom prst="roundRect">
            <a:avLst>
              <a:gd name="adj" fmla="val 1710"/>
            </a:avLst>
          </a:prstGeom>
          <a:solidFill>
            <a:srgbClr val="3047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4082" y="3852862"/>
            <a:ext cx="63401" cy="63401"/>
          </a:xfrm>
          <a:prstGeom prst="roundRect">
            <a:avLst>
              <a:gd name="adj" fmla="val 450703"/>
            </a:avLst>
          </a:prstGeom>
          <a:solidFill>
            <a:srgbClr val="0A988B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66" y="3785518"/>
            <a:ext cx="1492002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Lógico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0266" y="4045669"/>
            <a:ext cx="3548137" cy="598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 define hechos y reglas; el motor deduce respuestas (ej. Prolog). Potente en sistemas expertos, pero ineficiente para cálculos numéricos intensivos.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8721" y="3658716"/>
            <a:ext cx="3987998" cy="1112713"/>
          </a:xfrm>
          <a:prstGeom prst="roundRect">
            <a:avLst>
              <a:gd name="adj" fmla="val 1710"/>
            </a:avLst>
          </a:prstGeom>
          <a:solidFill>
            <a:srgbClr val="304755"/>
          </a:solidFill>
          <a:ln/>
        </p:spPr>
      </p:sp>
      <p:sp>
        <p:nvSpPr>
          <p:cNvPr id="21" name="Shape 19"/>
          <p:cNvSpPr/>
          <p:nvPr/>
        </p:nvSpPr>
        <p:spPr>
          <a:xfrm>
            <a:off x="4775522" y="3852862"/>
            <a:ext cx="63401" cy="63401"/>
          </a:xfrm>
          <a:prstGeom prst="roundRect">
            <a:avLst>
              <a:gd name="adj" fmla="val 450703"/>
            </a:avLst>
          </a:prstGeom>
          <a:solidFill>
            <a:srgbClr val="0A988B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706" y="3785518"/>
            <a:ext cx="1964457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Concurrente / Actores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61706" y="4045669"/>
            <a:ext cx="3548211" cy="598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Componentes independientes que se comunican por mensajes, evitando memoria compartida. Ideal para sistemas tolerantes a fallos, como telecomunicaciones y servicios distribuidos.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94246"/>
            <a:ext cx="8096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Cómo los Paradigmas Se Mezclan en Compiladores y Motores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425922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Hoy ningún lenguaje “serio” se limita a un solo paradigma: son multiparadigma. Los compiladores y motores modernos combinan técnicas para aprovechar ventajas de varios estilos—optimización, seguridad y flexibilidad—sin que el desarrollador siempre lo note.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3577" y="1991990"/>
            <a:ext cx="2611636" cy="2191122"/>
          </a:xfrm>
          <a:prstGeom prst="roundRect">
            <a:avLst>
              <a:gd name="adj" fmla="val 896"/>
            </a:avLst>
          </a:prstGeom>
          <a:solidFill>
            <a:srgbClr val="304755"/>
          </a:solidFill>
          <a:ln/>
        </p:spPr>
      </p:sp>
      <p:sp>
        <p:nvSpPr>
          <p:cNvPr id="5" name="Text 3"/>
          <p:cNvSpPr/>
          <p:nvPr/>
        </p:nvSpPr>
        <p:spPr>
          <a:xfrm>
            <a:off x="654472" y="2122884"/>
            <a:ext cx="2349847" cy="385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Rust — Optimización híbrida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4472" y="2586410"/>
            <a:ext cx="2349847" cy="125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Rust parece imperativo, pero el compilador transforma el código a una representación interna funcional (SSA). Esto permite reordenar instrucciones, eliminar código muerto y obtener alto rendimiento con bajo uso de memoria.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6108" y="1991990"/>
            <a:ext cx="2611710" cy="2191122"/>
          </a:xfrm>
          <a:prstGeom prst="roundRect">
            <a:avLst>
              <a:gd name="adj" fmla="val 896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3397002" y="2122884"/>
            <a:ext cx="2349922" cy="385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JavaScript — OOP con funcional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97002" y="2586410"/>
            <a:ext cx="2349922" cy="125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JavaScript usa prototipos y soporte funcional (map/filter/reduce). Motores como V8 detectan código “caliente” y emplean JIT para compilar a máquina en tiempo de ejecución, mejorando el desempeño en escenarios reales.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08712" y="1991990"/>
            <a:ext cx="2611710" cy="2191122"/>
          </a:xfrm>
          <a:prstGeom prst="roundRect">
            <a:avLst>
              <a:gd name="adj" fmla="val 896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6139607" y="2122884"/>
            <a:ext cx="2349922" cy="385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Python — Flexibilidad con costo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39607" y="2586410"/>
            <a:ext cx="2349922" cy="146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 permite POO, funcional e imperativo, pero CPython hace muchas comprobaciones dinámicas de tipo en tiempo de ejecución. Esa flexibilidad explica por qué puede ser muy lento en benchmarks comparados con compilados como Rust.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577" y="4330378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Conclusión: los paradigmas son etiquetas conceptuales; en la práctica el compilador mezcla enfoques para maximizar seguridad, velocidad y claridad según el caso de uso.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5757" y="279574"/>
            <a:ext cx="5843513" cy="24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Implicaciones Prácticas y Decisiones de Diseño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535757" y="622399"/>
            <a:ext cx="6072485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elección de paradigma afecta tanto al desarrollo como a la operación: rendimiento en pruebas (Collatz), resiliencia de sistemas distribuidos y claridad para comportamiento crítico. Es crucial elegir el paradigma por su idoneidad al problema, no por fidelidad ideológica.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4567238" y="892746"/>
            <a:ext cx="9525" cy="1504578"/>
          </a:xfrm>
          <a:prstGeom prst="roundRect">
            <a:avLst>
              <a:gd name="adj" fmla="val 128850"/>
            </a:avLst>
          </a:prstGeom>
          <a:solidFill>
            <a:srgbClr val="49606E"/>
          </a:solidFill>
          <a:ln/>
        </p:spPr>
      </p:sp>
      <p:sp>
        <p:nvSpPr>
          <p:cNvPr id="5" name="Shape 3"/>
          <p:cNvSpPr/>
          <p:nvPr/>
        </p:nvSpPr>
        <p:spPr>
          <a:xfrm>
            <a:off x="4244094" y="979959"/>
            <a:ext cx="245418" cy="9525"/>
          </a:xfrm>
          <a:prstGeom prst="roundRect">
            <a:avLst>
              <a:gd name="adj" fmla="val 128850"/>
            </a:avLst>
          </a:prstGeom>
          <a:solidFill>
            <a:srgbClr val="49606E"/>
          </a:solidFill>
          <a:ln/>
        </p:spPr>
      </p:sp>
      <p:sp>
        <p:nvSpPr>
          <p:cNvPr id="6" name="Shape 4"/>
          <p:cNvSpPr/>
          <p:nvPr/>
        </p:nvSpPr>
        <p:spPr>
          <a:xfrm>
            <a:off x="4479987" y="892746"/>
            <a:ext cx="184026" cy="184026"/>
          </a:xfrm>
          <a:prstGeom prst="roundRect">
            <a:avLst>
              <a:gd name="adj" fmla="val 6669"/>
            </a:avLst>
          </a:prstGeom>
          <a:solidFill>
            <a:srgbClr val="304755"/>
          </a:solidFill>
          <a:ln/>
        </p:spPr>
      </p:sp>
      <p:sp>
        <p:nvSpPr>
          <p:cNvPr id="7" name="Text 5"/>
          <p:cNvSpPr/>
          <p:nvPr/>
        </p:nvSpPr>
        <p:spPr>
          <a:xfrm>
            <a:off x="4514217" y="912540"/>
            <a:ext cx="115491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03140" y="920800"/>
            <a:ext cx="2259806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Resultados de rendimiento (Actividad II)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35757" y="1071786"/>
            <a:ext cx="262718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Rust y Zig dominaron los tiempos porque sus compiladores aplican optimizaciones agresivas. JavaScript quedó en una posición intermedia gracias al JIT; Python fue significativamente más lento por su interpretación dinámica.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654488" y="1409477"/>
            <a:ext cx="245418" cy="9525"/>
          </a:xfrm>
          <a:prstGeom prst="roundRect">
            <a:avLst>
              <a:gd name="adj" fmla="val 128850"/>
            </a:avLst>
          </a:prstGeom>
          <a:solidFill>
            <a:srgbClr val="4960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79987" y="1322263"/>
            <a:ext cx="184026" cy="184026"/>
          </a:xfrm>
          <a:prstGeom prst="roundRect">
            <a:avLst>
              <a:gd name="adj" fmla="val 6669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217" y="1342058"/>
            <a:ext cx="115491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1054" y="1350318"/>
            <a:ext cx="1984102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Diseño del Lenguaje L (Actividad III)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81054" y="1501304"/>
            <a:ext cx="2627188" cy="31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Para la microred ECO-GRID se eligió un paradigma imperativo estructurado deliberadamente: claridad y ejecución determinista eran prioritarios para evitar comportamientos inesperados en control de actuadores críticos.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4244094" y="1801862"/>
            <a:ext cx="245418" cy="9525"/>
          </a:xfrm>
          <a:prstGeom prst="roundRect">
            <a:avLst>
              <a:gd name="adj" fmla="val 128850"/>
            </a:avLst>
          </a:prstGeom>
          <a:solidFill>
            <a:srgbClr val="49606E"/>
          </a:solidFill>
          <a:ln/>
        </p:spPr>
      </p:sp>
      <p:sp>
        <p:nvSpPr>
          <p:cNvPr id="16" name="Shape 14"/>
          <p:cNvSpPr/>
          <p:nvPr/>
        </p:nvSpPr>
        <p:spPr>
          <a:xfrm>
            <a:off x="4479987" y="1714649"/>
            <a:ext cx="184026" cy="184026"/>
          </a:xfrm>
          <a:prstGeom prst="roundRect">
            <a:avLst>
              <a:gd name="adj" fmla="val 6669"/>
            </a:avLst>
          </a:prstGeom>
          <a:solidFill>
            <a:srgbClr val="304755"/>
          </a:solidFill>
          <a:ln/>
        </p:spPr>
      </p:sp>
      <p:sp>
        <p:nvSpPr>
          <p:cNvPr id="17" name="Text 15"/>
          <p:cNvSpPr/>
          <p:nvPr/>
        </p:nvSpPr>
        <p:spPr>
          <a:xfrm>
            <a:off x="4514217" y="1734443"/>
            <a:ext cx="115491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96233" y="1742703"/>
            <a:ext cx="966713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Lección principal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35757" y="1893689"/>
            <a:ext cx="2627188" cy="31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Los paradigmas importan porque condicionan cómo se traducirá y ejecutará el código. Sin embargo, los lenguajes modernos son “vivos”: integran ideas de varios paradigmas para equilibrar rendimiento, seguridad y expresividad.</a:t>
            </a:r>
            <a:endParaRPr lang="en-US" sz="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520" y="2509540"/>
            <a:ext cx="1977330" cy="197733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60" y="2509540"/>
            <a:ext cx="1977405" cy="1977405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075" y="2509540"/>
            <a:ext cx="1977330" cy="197733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535757" y="4599161"/>
            <a:ext cx="6072485" cy="264765"/>
          </a:xfrm>
          <a:prstGeom prst="roundRect">
            <a:avLst>
              <a:gd name="adj" fmla="val 4635"/>
            </a:avLst>
          </a:prstGeom>
          <a:solidFill>
            <a:srgbClr val="05484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538" y="4710708"/>
            <a:ext cx="102245" cy="8178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01564" y="4670673"/>
            <a:ext cx="6182097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 desean, puedo transformar esta presentación en una versión con diapositivas para exposición: menos texto y más puntos clave por diapositiva.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2026-06-04T02:08:28Z</dcterms:created>
  <dcterms:modified xsi:type="dcterms:W3CDTF">2026-06-04T02:08:28Z</dcterms:modified>
</cp:coreProperties>
</file>